
<file path=[Content_Types].xml><?xml version="1.0" encoding="utf-8"?>
<Types xmlns="http://schemas.openxmlformats.org/package/2006/content-types">
  <Default ContentType="application/vnd.openxmlformats-officedocument.oleObject" Extension="bin"/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8288000" cy="10287000"/>
  <p:notesSz cx="6858000" cy="9144000"/>
  <p:embeddedFontLst>
    <p:embeddedFont>
      <p:font typeface="Paytone One" charset="1" panose="00000500000000000000"/>
      <p:regular r:id="rId14"/>
    </p:embeddedFont>
    <p:embeddedFont>
      <p:font typeface="Inter Bold" charset="1" panose="020B0802030000000004"/>
      <p:regular r:id="rId15"/>
    </p:embeddedFont>
    <p:embeddedFont>
      <p:font typeface="Open Sans Bold" charset="1" panose="020B0806030504020204"/>
      <p:regular r:id="rId16"/>
    </p:embeddedFont>
    <p:embeddedFont>
      <p:font typeface="Inter" charset="1" panose="020B0502030000000004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7.jpe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8.png" Type="http://schemas.openxmlformats.org/officeDocument/2006/relationships/image"/><Relationship Id="rId7" Target="../media/image9.svg" Type="http://schemas.openxmlformats.org/officeDocument/2006/relationships/image"/><Relationship Id="rId8" Target="../media/image10.png" Type="http://schemas.openxmlformats.org/officeDocument/2006/relationships/image"/><Relationship Id="rId9" Target="../media/image1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4.png" Type="http://schemas.openxmlformats.org/officeDocument/2006/relationships/image"/><Relationship Id="rId9" Target="../media/image15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Relationship Id="rId6" Target="../media/image16.png" Type="http://schemas.openxmlformats.org/officeDocument/2006/relationships/image"/><Relationship Id="rId7" Target="../embeddings/oleObject1.bin" Type="http://schemas.openxmlformats.org/officeDocument/2006/relationships/oleObjec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9.pn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12.png" Type="http://schemas.openxmlformats.org/officeDocument/2006/relationships/image"/><Relationship Id="rId7" Target="../media/image13.svg" Type="http://schemas.openxmlformats.org/officeDocument/2006/relationships/image"/><Relationship Id="rId8" Target="../media/image17.png" Type="http://schemas.openxmlformats.org/officeDocument/2006/relationships/image"/><Relationship Id="rId9" Target="../media/image18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03411" y="7909741"/>
            <a:ext cx="3957689" cy="4114800"/>
          </a:xfrm>
          <a:custGeom>
            <a:avLst/>
            <a:gdLst/>
            <a:ahLst/>
            <a:cxnLst/>
            <a:rect r="r" b="b" t="t" l="l"/>
            <a:pathLst>
              <a:path h="4114800" w="3957689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29414" y="5550279"/>
            <a:ext cx="5133661" cy="5056656"/>
          </a:xfrm>
          <a:custGeom>
            <a:avLst/>
            <a:gdLst/>
            <a:ahLst/>
            <a:cxnLst/>
            <a:rect r="r" b="b" t="t" l="l"/>
            <a:pathLst>
              <a:path h="5056656" w="5133661">
                <a:moveTo>
                  <a:pt x="0" y="0"/>
                </a:moveTo>
                <a:lnTo>
                  <a:pt x="5133661" y="0"/>
                </a:lnTo>
                <a:lnTo>
                  <a:pt x="5133661" y="5056656"/>
                </a:lnTo>
                <a:lnTo>
                  <a:pt x="0" y="505665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3661897" y="2010596"/>
            <a:ext cx="10964207" cy="16243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44"/>
              </a:lnSpc>
              <a:spcBef>
                <a:spcPct val="0"/>
              </a:spcBef>
            </a:pPr>
            <a:r>
              <a:rPr lang="en-US" sz="4674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PROYECTO PAGINA WEB NMCOLLECTION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036958" y="4855000"/>
            <a:ext cx="6214084" cy="223329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479"/>
              </a:lnSpc>
            </a:pPr>
            <a:r>
              <a:rPr lang="en-US" b="true" sz="3199" spc="-6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Equipo:</a:t>
            </a:r>
          </a:p>
          <a:p>
            <a:pPr algn="ctr">
              <a:lnSpc>
                <a:spcPts val="4479"/>
              </a:lnSpc>
            </a:pPr>
            <a:r>
              <a:rPr lang="en-US" b="true" sz="3199" spc="-6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Gustavo Paredes</a:t>
            </a:r>
          </a:p>
          <a:p>
            <a:pPr algn="ctr">
              <a:lnSpc>
                <a:spcPts val="4479"/>
              </a:lnSpc>
            </a:pPr>
            <a:r>
              <a:rPr lang="en-US" b="true" sz="3199" spc="-6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Jeremy Contreras</a:t>
            </a:r>
          </a:p>
          <a:p>
            <a:pPr algn="ctr">
              <a:lnSpc>
                <a:spcPts val="4479"/>
              </a:lnSpc>
              <a:spcBef>
                <a:spcPct val="0"/>
              </a:spcBef>
            </a:pPr>
            <a:r>
              <a:rPr lang="en-US" b="true" sz="3199" spc="-63">
                <a:solidFill>
                  <a:srgbClr val="000000"/>
                </a:solidFill>
                <a:latin typeface="Inter Bold"/>
                <a:ea typeface="Inter Bold"/>
                <a:cs typeface="Inter Bold"/>
                <a:sym typeface="Inter Bold"/>
              </a:rPr>
              <a:t>Matias Parada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03411" y="7909741"/>
            <a:ext cx="3957689" cy="4114800"/>
          </a:xfrm>
          <a:custGeom>
            <a:avLst/>
            <a:gdLst/>
            <a:ahLst/>
            <a:cxnLst/>
            <a:rect r="r" b="b" t="t" l="l"/>
            <a:pathLst>
              <a:path h="4114800" w="3957689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823036" y="326376"/>
            <a:ext cx="1959220" cy="2409802"/>
          </a:xfrm>
          <a:custGeom>
            <a:avLst/>
            <a:gdLst/>
            <a:ahLst/>
            <a:cxnLst/>
            <a:rect r="r" b="b" t="t" l="l"/>
            <a:pathLst>
              <a:path h="2409802" w="1959220">
                <a:moveTo>
                  <a:pt x="0" y="0"/>
                </a:moveTo>
                <a:lnTo>
                  <a:pt x="1959220" y="0"/>
                </a:lnTo>
                <a:lnTo>
                  <a:pt x="1959220" y="2409803"/>
                </a:lnTo>
                <a:lnTo>
                  <a:pt x="0" y="2409803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-3077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24261" y="1455078"/>
            <a:ext cx="14239479" cy="73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  <a:spcBef>
                <a:spcPct val="0"/>
              </a:spcBef>
            </a:pPr>
            <a:r>
              <a:rPr lang="en-US" sz="4341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INTRODUCCION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2742707" y="3444748"/>
            <a:ext cx="12802585" cy="52203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66"/>
              </a:lnSpc>
            </a:pPr>
            <a:r>
              <a:rPr lang="en-US" b="true" sz="2975">
                <a:solidFill>
                  <a:srgbClr val="00778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El presente documento presenta las épicas, historias de usuario y la planificación del Sprint 1 correspondientes al proyecto NM Collection, desarrollado bajo la metodología ágil Scrum.</a:t>
            </a:r>
          </a:p>
          <a:p>
            <a:pPr algn="ctr">
              <a:lnSpc>
                <a:spcPts val="4166"/>
              </a:lnSpc>
            </a:pPr>
            <a:r>
              <a:rPr lang="en-US" b="true" sz="2975">
                <a:solidFill>
                  <a:srgbClr val="00778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 El objetivo es establecer una estructura clara de trabajo que permita gestionar el desarrollo de manera iterativa y colaborativa, enfocándose en entregar valor continuo al usuario final.</a:t>
            </a:r>
          </a:p>
          <a:p>
            <a:pPr algn="ctr">
              <a:lnSpc>
                <a:spcPts val="4166"/>
              </a:lnSpc>
            </a:pPr>
            <a:r>
              <a:rPr lang="en-US" b="true" sz="2975">
                <a:solidFill>
                  <a:srgbClr val="007780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Cada historia de usuario representa una necesidad concreta del sistema, mientras que las épicas agrupan funcionalidades mayores que serán abordadas progresivamente a través de los sprints.</a:t>
            </a:r>
          </a:p>
          <a:p>
            <a:pPr algn="ctr">
              <a:lnSpc>
                <a:spcPts val="4166"/>
              </a:lnSpc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36108" y="2366755"/>
            <a:ext cx="11767303" cy="3135068"/>
            <a:chOff x="0" y="0"/>
            <a:chExt cx="3099207" cy="825697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099207" cy="825697"/>
            </a:xfrm>
            <a:custGeom>
              <a:avLst/>
              <a:gdLst/>
              <a:ahLst/>
              <a:cxnLst/>
              <a:rect r="r" b="b" t="t" l="l"/>
              <a:pathLst>
                <a:path h="825697" w="3099207">
                  <a:moveTo>
                    <a:pt x="33554" y="0"/>
                  </a:moveTo>
                  <a:lnTo>
                    <a:pt x="3065654" y="0"/>
                  </a:lnTo>
                  <a:cubicBezTo>
                    <a:pt x="3084185" y="0"/>
                    <a:pt x="3099207" y="15023"/>
                    <a:pt x="3099207" y="33554"/>
                  </a:cubicBezTo>
                  <a:lnTo>
                    <a:pt x="3099207" y="792143"/>
                  </a:lnTo>
                  <a:cubicBezTo>
                    <a:pt x="3099207" y="801042"/>
                    <a:pt x="3095672" y="809577"/>
                    <a:pt x="3089380" y="815869"/>
                  </a:cubicBezTo>
                  <a:cubicBezTo>
                    <a:pt x="3083087" y="822162"/>
                    <a:pt x="3074553" y="825697"/>
                    <a:pt x="3065654" y="825697"/>
                  </a:cubicBezTo>
                  <a:lnTo>
                    <a:pt x="33554" y="825697"/>
                  </a:lnTo>
                  <a:cubicBezTo>
                    <a:pt x="24655" y="825697"/>
                    <a:pt x="16120" y="822162"/>
                    <a:pt x="9828" y="815869"/>
                  </a:cubicBezTo>
                  <a:cubicBezTo>
                    <a:pt x="3535" y="809577"/>
                    <a:pt x="0" y="801042"/>
                    <a:pt x="0" y="792143"/>
                  </a:cubicBezTo>
                  <a:lnTo>
                    <a:pt x="0" y="33554"/>
                  </a:lnTo>
                  <a:cubicBezTo>
                    <a:pt x="0" y="24655"/>
                    <a:pt x="3535" y="16120"/>
                    <a:pt x="9828" y="9828"/>
                  </a:cubicBezTo>
                  <a:cubicBezTo>
                    <a:pt x="16120" y="3535"/>
                    <a:pt x="24655" y="0"/>
                    <a:pt x="33554" y="0"/>
                  </a:cubicBezTo>
                  <a:close/>
                </a:path>
              </a:pathLst>
            </a:custGeom>
            <a:solidFill>
              <a:srgbClr val="00778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3099207" cy="863797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036108" y="6317488"/>
            <a:ext cx="11767303" cy="2940812"/>
            <a:chOff x="0" y="0"/>
            <a:chExt cx="3099207" cy="77453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099207" cy="774535"/>
            </a:xfrm>
            <a:custGeom>
              <a:avLst/>
              <a:gdLst/>
              <a:ahLst/>
              <a:cxnLst/>
              <a:rect r="r" b="b" t="t" l="l"/>
              <a:pathLst>
                <a:path h="774535" w="3099207">
                  <a:moveTo>
                    <a:pt x="33554" y="0"/>
                  </a:moveTo>
                  <a:lnTo>
                    <a:pt x="3065654" y="0"/>
                  </a:lnTo>
                  <a:cubicBezTo>
                    <a:pt x="3084185" y="0"/>
                    <a:pt x="3099207" y="15023"/>
                    <a:pt x="3099207" y="33554"/>
                  </a:cubicBezTo>
                  <a:lnTo>
                    <a:pt x="3099207" y="740981"/>
                  </a:lnTo>
                  <a:cubicBezTo>
                    <a:pt x="3099207" y="749880"/>
                    <a:pt x="3095672" y="758415"/>
                    <a:pt x="3089380" y="764707"/>
                  </a:cubicBezTo>
                  <a:cubicBezTo>
                    <a:pt x="3083087" y="771000"/>
                    <a:pt x="3074553" y="774535"/>
                    <a:pt x="3065654" y="774535"/>
                  </a:cubicBezTo>
                  <a:lnTo>
                    <a:pt x="33554" y="774535"/>
                  </a:lnTo>
                  <a:cubicBezTo>
                    <a:pt x="15023" y="774535"/>
                    <a:pt x="0" y="759512"/>
                    <a:pt x="0" y="740981"/>
                  </a:cubicBezTo>
                  <a:lnTo>
                    <a:pt x="0" y="33554"/>
                  </a:lnTo>
                  <a:cubicBezTo>
                    <a:pt x="0" y="24655"/>
                    <a:pt x="3535" y="16120"/>
                    <a:pt x="9828" y="9828"/>
                  </a:cubicBezTo>
                  <a:cubicBezTo>
                    <a:pt x="16120" y="3535"/>
                    <a:pt x="24655" y="0"/>
                    <a:pt x="33554" y="0"/>
                  </a:cubicBezTo>
                  <a:close/>
                </a:path>
              </a:pathLst>
            </a:custGeom>
            <a:solidFill>
              <a:srgbClr val="00778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099207" cy="81263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652512" y="2218547"/>
            <a:ext cx="2767193" cy="2767193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78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652512" y="5655929"/>
            <a:ext cx="2767193" cy="2767193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778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813570" y="5791286"/>
            <a:ext cx="2470777" cy="2470777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813570" y="2366755"/>
            <a:ext cx="2470777" cy="24707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-744408" y="0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5803411" y="7909741"/>
            <a:ext cx="3957689" cy="4114800"/>
          </a:xfrm>
          <a:custGeom>
            <a:avLst/>
            <a:gdLst/>
            <a:ahLst/>
            <a:cxnLst/>
            <a:rect r="r" b="b" t="t" l="l"/>
            <a:pathLst>
              <a:path h="4114800" w="3957689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3142446" y="6200616"/>
            <a:ext cx="1813024" cy="1652119"/>
          </a:xfrm>
          <a:custGeom>
            <a:avLst/>
            <a:gdLst/>
            <a:ahLst/>
            <a:cxnLst/>
            <a:rect r="r" b="b" t="t" l="l"/>
            <a:pathLst>
              <a:path h="1652119" w="1813024">
                <a:moveTo>
                  <a:pt x="0" y="0"/>
                </a:moveTo>
                <a:lnTo>
                  <a:pt x="1813025" y="0"/>
                </a:lnTo>
                <a:lnTo>
                  <a:pt x="1813025" y="1652118"/>
                </a:lnTo>
                <a:lnTo>
                  <a:pt x="0" y="1652118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048958" y="1340604"/>
            <a:ext cx="11767303" cy="592193"/>
            <a:chOff x="0" y="0"/>
            <a:chExt cx="3099207" cy="15596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3099207" cy="155968"/>
            </a:xfrm>
            <a:custGeom>
              <a:avLst/>
              <a:gdLst/>
              <a:ahLst/>
              <a:cxnLst/>
              <a:rect r="r" b="b" t="t" l="l"/>
              <a:pathLst>
                <a:path h="155968" w="3099207">
                  <a:moveTo>
                    <a:pt x="33554" y="0"/>
                  </a:moveTo>
                  <a:lnTo>
                    <a:pt x="3065654" y="0"/>
                  </a:lnTo>
                  <a:cubicBezTo>
                    <a:pt x="3084185" y="0"/>
                    <a:pt x="3099207" y="15023"/>
                    <a:pt x="3099207" y="33554"/>
                  </a:cubicBezTo>
                  <a:lnTo>
                    <a:pt x="3099207" y="122415"/>
                  </a:lnTo>
                  <a:cubicBezTo>
                    <a:pt x="3099207" y="131314"/>
                    <a:pt x="3095672" y="139848"/>
                    <a:pt x="3089380" y="146141"/>
                  </a:cubicBezTo>
                  <a:cubicBezTo>
                    <a:pt x="3083087" y="152433"/>
                    <a:pt x="3074553" y="155968"/>
                    <a:pt x="3065654" y="155968"/>
                  </a:cubicBezTo>
                  <a:lnTo>
                    <a:pt x="33554" y="155968"/>
                  </a:lnTo>
                  <a:cubicBezTo>
                    <a:pt x="24655" y="155968"/>
                    <a:pt x="16120" y="152433"/>
                    <a:pt x="9828" y="146141"/>
                  </a:cubicBezTo>
                  <a:cubicBezTo>
                    <a:pt x="3535" y="139848"/>
                    <a:pt x="0" y="131314"/>
                    <a:pt x="0" y="122415"/>
                  </a:cubicBezTo>
                  <a:lnTo>
                    <a:pt x="0" y="33554"/>
                  </a:lnTo>
                  <a:cubicBezTo>
                    <a:pt x="0" y="24655"/>
                    <a:pt x="3535" y="16120"/>
                    <a:pt x="9828" y="9828"/>
                  </a:cubicBezTo>
                  <a:cubicBezTo>
                    <a:pt x="16120" y="3535"/>
                    <a:pt x="24655" y="0"/>
                    <a:pt x="33554" y="0"/>
                  </a:cubicBezTo>
                  <a:close/>
                </a:path>
              </a:pathLst>
            </a:custGeom>
            <a:solidFill>
              <a:srgbClr val="007780"/>
            </a:soli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38100"/>
              <a:ext cx="3099207" cy="19406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60"/>
                </a:lnSpc>
              </a:pPr>
            </a:p>
          </p:txBody>
        </p:sp>
      </p:grpSp>
      <p:sp>
        <p:nvSpPr>
          <p:cNvPr name="Freeform 26" id="26"/>
          <p:cNvSpPr/>
          <p:nvPr/>
        </p:nvSpPr>
        <p:spPr>
          <a:xfrm flipH="false" flipV="false" rot="0">
            <a:off x="3001849" y="2860336"/>
            <a:ext cx="2068519" cy="1347123"/>
          </a:xfrm>
          <a:custGeom>
            <a:avLst/>
            <a:gdLst/>
            <a:ahLst/>
            <a:cxnLst/>
            <a:rect r="r" b="b" t="t" l="l"/>
            <a:pathLst>
              <a:path h="1347123" w="2068519">
                <a:moveTo>
                  <a:pt x="0" y="0"/>
                </a:moveTo>
                <a:lnTo>
                  <a:pt x="2068518" y="0"/>
                </a:lnTo>
                <a:lnTo>
                  <a:pt x="2068518" y="1347123"/>
                </a:lnTo>
                <a:lnTo>
                  <a:pt x="0" y="134712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7" id="27"/>
          <p:cNvSpPr txBox="true"/>
          <p:nvPr/>
        </p:nvSpPr>
        <p:spPr>
          <a:xfrm rot="0">
            <a:off x="3142446" y="261905"/>
            <a:ext cx="14239479" cy="73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  <a:spcBef>
                <a:spcPct val="0"/>
              </a:spcBef>
            </a:pPr>
            <a:r>
              <a:rPr lang="en-US" sz="4341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METODOLOGIA DE TRABAJO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6275929" y="2532573"/>
            <a:ext cx="7119739" cy="5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  <a:spcBef>
                <a:spcPct val="0"/>
              </a:spcBef>
            </a:pPr>
            <a:r>
              <a:rPr lang="en-US" sz="3441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Roles Principales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418138" y="6330186"/>
            <a:ext cx="5003244" cy="5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  <a:spcBef>
                <a:spcPct val="0"/>
              </a:spcBef>
            </a:pPr>
            <a:r>
              <a:rPr lang="en-US" sz="3441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Ventajas de SCRUM 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5555062" y="3334980"/>
            <a:ext cx="9945069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Product Owner: Responsable de priorizar requerimientos.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Scrum Master: Facilita el proceso y elimina impedimentos.</a:t>
            </a:r>
          </a:p>
          <a:p>
            <a:pPr algn="just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Equipo de desarrollo: Encargado de implementar las funcionalidades.</a:t>
            </a:r>
          </a:p>
          <a:p>
            <a:pPr algn="just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31" id="31"/>
          <p:cNvSpPr txBox="true"/>
          <p:nvPr/>
        </p:nvSpPr>
        <p:spPr>
          <a:xfrm rot="0">
            <a:off x="5600477" y="6979050"/>
            <a:ext cx="10215784" cy="20821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Entregas incrementales.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Flexibilidad ante cambios.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Priorización basada en valor al usuario.</a:t>
            </a:r>
          </a:p>
          <a:p>
            <a:pPr algn="l" marL="518158" indent="-259079" lvl="1">
              <a:lnSpc>
                <a:spcPts val="3359"/>
              </a:lnSpc>
              <a:buFont typeface="Arial"/>
              <a:buChar char="•"/>
            </a:pPr>
            <a:r>
              <a:rPr lang="en-US" sz="23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Revisión y mejora continua en cada sprint.</a:t>
            </a:r>
          </a:p>
          <a:p>
            <a:pPr algn="l">
              <a:lnSpc>
                <a:spcPts val="3359"/>
              </a:lnSpc>
              <a:spcBef>
                <a:spcPct val="0"/>
              </a:spcBef>
            </a:pPr>
          </a:p>
        </p:txBody>
      </p:sp>
      <p:sp>
        <p:nvSpPr>
          <p:cNvPr name="TextBox 32" id="32"/>
          <p:cNvSpPr txBox="true"/>
          <p:nvPr/>
        </p:nvSpPr>
        <p:spPr>
          <a:xfrm rot="0">
            <a:off x="6275929" y="1343945"/>
            <a:ext cx="7119739" cy="5888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818"/>
              </a:lnSpc>
              <a:spcBef>
                <a:spcPct val="0"/>
              </a:spcBef>
            </a:pPr>
            <a:r>
              <a:rPr lang="en-US" sz="3441">
                <a:solidFill>
                  <a:srgbClr val="FFFFFF"/>
                </a:solidFill>
                <a:latin typeface="Paytone One"/>
                <a:ea typeface="Paytone One"/>
                <a:cs typeface="Paytone One"/>
                <a:sym typeface="Paytone One"/>
              </a:rPr>
              <a:t>Metodología SCRUM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03411" y="7909741"/>
            <a:ext cx="3957689" cy="4114800"/>
          </a:xfrm>
          <a:custGeom>
            <a:avLst/>
            <a:gdLst/>
            <a:ahLst/>
            <a:cxnLst/>
            <a:rect r="r" b="b" t="t" l="l"/>
            <a:pathLst>
              <a:path h="4114800" w="3957689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0">
            <a:off x="7348496" y="4087678"/>
            <a:ext cx="934083" cy="875703"/>
          </a:xfrm>
          <a:custGeom>
            <a:avLst/>
            <a:gdLst/>
            <a:ahLst/>
            <a:cxnLst/>
            <a:rect r="r" b="b" t="t" l="l"/>
            <a:pathLst>
              <a:path h="875703" w="93408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2024261" y="1558616"/>
            <a:ext cx="14239479" cy="73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  <a:spcBef>
                <a:spcPct val="0"/>
              </a:spcBef>
            </a:pPr>
            <a:r>
              <a:rPr lang="en-US" sz="4341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EPICAS DEL PROYECTO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766134" y="3315357"/>
            <a:ext cx="14239479" cy="4921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INICIAR SESIÓN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REGISTRARSE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PERSONALIZAR CARTA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PUJAS EN SUBASTAS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CHAT DE SUBASTAS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VER CATÁLOGO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GESTIONAR PEDIDOS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CAMBIAR INFORMACIÓN PERSONAL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DASHBOARD ADMINISTRATIVOS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AGREGAR PLANTILLAS DE DISEÑO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PANEL DE ADMINISTRACIÓN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REPORTES DE PREVISUALIZACIÓN</a:t>
            </a:r>
          </a:p>
          <a:p>
            <a:pPr algn="ctr">
              <a:lnSpc>
                <a:spcPts val="280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GESTIONAR SUBASTAS</a:t>
            </a:r>
          </a:p>
          <a:p>
            <a:pPr algn="ctr">
              <a:lnSpc>
                <a:spcPts val="2800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03411" y="7909741"/>
            <a:ext cx="3957689" cy="4114800"/>
          </a:xfrm>
          <a:custGeom>
            <a:avLst/>
            <a:gdLst/>
            <a:ahLst/>
            <a:cxnLst/>
            <a:rect r="r" b="b" t="t" l="l"/>
            <a:pathLst>
              <a:path h="4114800" w="3957689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0">
            <a:off x="7348496" y="4087678"/>
            <a:ext cx="934083" cy="875703"/>
          </a:xfrm>
          <a:custGeom>
            <a:avLst/>
            <a:gdLst/>
            <a:ahLst/>
            <a:cxnLst/>
            <a:rect r="r" b="b" t="t" l="l"/>
            <a:pathLst>
              <a:path h="875703" w="93408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01584" y="6824633"/>
            <a:ext cx="3142508" cy="3142508"/>
          </a:xfrm>
          <a:custGeom>
            <a:avLst/>
            <a:gdLst/>
            <a:ahLst/>
            <a:cxnLst/>
            <a:rect r="r" b="b" t="t" l="l"/>
            <a:pathLst>
              <a:path h="3142508" w="3142508">
                <a:moveTo>
                  <a:pt x="0" y="0"/>
                </a:moveTo>
                <a:lnTo>
                  <a:pt x="3142508" y="0"/>
                </a:lnTo>
                <a:lnTo>
                  <a:pt x="3142508" y="3142508"/>
                </a:lnTo>
                <a:lnTo>
                  <a:pt x="0" y="3142508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2024261" y="1558616"/>
            <a:ext cx="14239479" cy="73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  <a:spcBef>
                <a:spcPct val="0"/>
              </a:spcBef>
            </a:pPr>
            <a:r>
              <a:rPr lang="en-US" sz="4341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HISTORIAS DE USUARIO DESTACADAS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2714254" y="3254143"/>
            <a:ext cx="14239479" cy="24212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96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COMO USUARIO QUIERO REGISTRARME PARA PODER ACCEDER A LA PLATAFORMA.</a:t>
            </a:r>
          </a:p>
          <a:p>
            <a:pPr algn="just">
              <a:lnSpc>
                <a:spcPts val="396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COMO USUARIO QUIERO PERSONALIZAR MI CARTA PARA ADAPTARLA A MI GUSTO.</a:t>
            </a:r>
          </a:p>
          <a:p>
            <a:pPr algn="just">
              <a:lnSpc>
                <a:spcPts val="396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COMO USUARIO QUIERO REALIZAR PUJAS EN LAS SUBASTAS PARA OBTENER CARTAS EXCLUSIVAS.</a:t>
            </a:r>
          </a:p>
          <a:p>
            <a:pPr algn="just">
              <a:lnSpc>
                <a:spcPts val="3960"/>
              </a:lnSpc>
            </a:pPr>
            <a:r>
              <a:rPr lang="en-US" sz="2000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COMO ADMINISTRADOR QUIERO GESTIONAR LAS SUBASTAS DESDE UN PANEL DE CONTROL.</a:t>
            </a:r>
          </a:p>
          <a:p>
            <a:pPr algn="just">
              <a:lnSpc>
                <a:spcPts val="396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5400000">
            <a:off x="13734803" y="1191053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608610" y="-181717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9"/>
                </a:lnTo>
                <a:lnTo>
                  <a:pt x="0" y="3501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00000">
            <a:off x="7348496" y="4087678"/>
            <a:ext cx="934083" cy="875703"/>
          </a:xfrm>
          <a:custGeom>
            <a:avLst/>
            <a:gdLst/>
            <a:ahLst/>
            <a:cxnLst/>
            <a:rect r="r" b="b" t="t" l="l"/>
            <a:pathLst>
              <a:path h="875703" w="93408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-10800000">
            <a:off x="12403997" y="6780297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9"/>
                </a:lnTo>
                <a:lnTo>
                  <a:pt x="0" y="35018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Object 5" id="5"/>
          <p:cNvGraphicFramePr/>
          <p:nvPr/>
        </p:nvGraphicFramePr>
        <p:xfrm>
          <a:off x="1261753" y="5165386"/>
          <a:ext cx="8817429" cy="8229600"/>
        </p:xfrm>
        <a:graphic>
          <a:graphicData uri="http://schemas.openxmlformats.org/presentationml/2006/ole">
            <p:oleObj imgW="10579100" imgH="9982200" r:id="rId7" progId="Excel.Sheet.12" name="Worksheet">
              <p:embed/>
              <p:pic>
                <p:nvPicPr>
                  <p:cNvPr name="" id="0"/>
                  <p:cNvPicPr/>
                  <p:nvPr/>
                </p:nvPicPr>
                <p:blipFill>
                  <a:blip r:embed="rId6"/>
                  <a:stretch>
                    <a:fillRect/>
                  </a:stretch>
                </p:blipFill>
                <p:spPr>
                  <a:xfrm>
                    <a:off x="1270000" y="1270000"/>
                    <a:ext cx="1270000" cy="1270000"/>
                  </a:xfrm>
                  <a:prstGeom prst="rect"/>
                </p:spPr>
              </p:pic>
            </p:oleObj>
          </a:graphicData>
        </a:graphic>
      </p:graphicFrame>
      <p:sp>
        <p:nvSpPr>
          <p:cNvPr name="TextBox 6" id="6"/>
          <p:cNvSpPr txBox="true"/>
          <p:nvPr/>
        </p:nvSpPr>
        <p:spPr>
          <a:xfrm rot="0">
            <a:off x="2439897" y="621879"/>
            <a:ext cx="14239479" cy="73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  <a:spcBef>
                <a:spcPct val="0"/>
              </a:spcBef>
            </a:pPr>
            <a:r>
              <a:rPr lang="en-US" sz="4341" u="sng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PRIORIZACION DE HISTORIAS DE USUARIO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5556159" y="1502557"/>
            <a:ext cx="7175681" cy="34324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459"/>
              </a:lnSpc>
              <a:spcBef>
                <a:spcPct val="0"/>
              </a:spcBef>
            </a:pPr>
            <a:r>
              <a:rPr lang="en-US" sz="3899" strike="noStrike" u="none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CRITERIOS:</a:t>
            </a:r>
          </a:p>
          <a:p>
            <a:pPr algn="just" marL="841947" indent="-420973" lvl="1">
              <a:lnSpc>
                <a:spcPts val="5459"/>
              </a:lnSpc>
              <a:buFont typeface="Arial"/>
              <a:buChar char="•"/>
            </a:pPr>
            <a:r>
              <a:rPr lang="en-US" sz="3899" strike="noStrike" u="none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VALOR PARA EL USUARIO</a:t>
            </a:r>
          </a:p>
          <a:p>
            <a:pPr algn="just" marL="841947" indent="-420973" lvl="1">
              <a:lnSpc>
                <a:spcPts val="5459"/>
              </a:lnSpc>
              <a:buFont typeface="Arial"/>
              <a:buChar char="•"/>
            </a:pPr>
            <a:r>
              <a:rPr lang="en-US" sz="3899" strike="noStrike" u="none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DEPENDENCIAS TÉCNICAS</a:t>
            </a:r>
          </a:p>
          <a:p>
            <a:pPr algn="just" marL="841947" indent="-420973" lvl="1">
              <a:lnSpc>
                <a:spcPts val="5459"/>
              </a:lnSpc>
              <a:buFont typeface="Arial"/>
              <a:buChar char="•"/>
            </a:pPr>
            <a:r>
              <a:rPr lang="en-US" sz="3899" strike="noStrike" u="none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RIESGO</a:t>
            </a:r>
          </a:p>
          <a:p>
            <a:pPr algn="just" marL="841947" indent="-420973" lvl="1">
              <a:lnSpc>
                <a:spcPts val="5459"/>
              </a:lnSpc>
              <a:buFont typeface="Arial"/>
              <a:buChar char="•"/>
            </a:pPr>
            <a:r>
              <a:rPr lang="en-US" sz="3899" strike="noStrike" u="none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ALCANCE DEL SPRINT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803411" y="7909741"/>
            <a:ext cx="3957689" cy="4114800"/>
          </a:xfrm>
          <a:custGeom>
            <a:avLst/>
            <a:gdLst/>
            <a:ahLst/>
            <a:cxnLst/>
            <a:rect r="r" b="b" t="t" l="l"/>
            <a:pathLst>
              <a:path h="4114800" w="3957689">
                <a:moveTo>
                  <a:pt x="0" y="0"/>
                </a:moveTo>
                <a:lnTo>
                  <a:pt x="3957689" y="0"/>
                </a:lnTo>
                <a:lnTo>
                  <a:pt x="395768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8100000">
            <a:off x="7348496" y="4087678"/>
            <a:ext cx="934083" cy="875703"/>
          </a:xfrm>
          <a:custGeom>
            <a:avLst/>
            <a:gdLst/>
            <a:ahLst/>
            <a:cxnLst/>
            <a:rect r="r" b="b" t="t" l="l"/>
            <a:pathLst>
              <a:path h="875703" w="93408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61254" y="6878750"/>
            <a:ext cx="6042531" cy="1238719"/>
          </a:xfrm>
          <a:custGeom>
            <a:avLst/>
            <a:gdLst/>
            <a:ahLst/>
            <a:cxnLst/>
            <a:rect r="r" b="b" t="t" l="l"/>
            <a:pathLst>
              <a:path h="1238719" w="6042531">
                <a:moveTo>
                  <a:pt x="0" y="0"/>
                </a:moveTo>
                <a:lnTo>
                  <a:pt x="6042531" y="0"/>
                </a:lnTo>
                <a:lnTo>
                  <a:pt x="6042531" y="1238719"/>
                </a:lnTo>
                <a:lnTo>
                  <a:pt x="0" y="1238719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7472532" y="6577803"/>
            <a:ext cx="4427188" cy="1768840"/>
          </a:xfrm>
          <a:custGeom>
            <a:avLst/>
            <a:gdLst/>
            <a:ahLst/>
            <a:cxnLst/>
            <a:rect r="r" b="b" t="t" l="l"/>
            <a:pathLst>
              <a:path h="1768840" w="4427188">
                <a:moveTo>
                  <a:pt x="0" y="0"/>
                </a:moveTo>
                <a:lnTo>
                  <a:pt x="4427188" y="0"/>
                </a:lnTo>
                <a:lnTo>
                  <a:pt x="4427188" y="1768839"/>
                </a:lnTo>
                <a:lnTo>
                  <a:pt x="0" y="1768839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 l="-941" t="0" r="-941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3919116" y="5920975"/>
            <a:ext cx="2527166" cy="2527166"/>
          </a:xfrm>
          <a:custGeom>
            <a:avLst/>
            <a:gdLst/>
            <a:ahLst/>
            <a:cxnLst/>
            <a:rect r="r" b="b" t="t" l="l"/>
            <a:pathLst>
              <a:path h="2527166" w="2527166">
                <a:moveTo>
                  <a:pt x="0" y="0"/>
                </a:moveTo>
                <a:lnTo>
                  <a:pt x="2527166" y="0"/>
                </a:lnTo>
                <a:lnTo>
                  <a:pt x="2527166" y="2527166"/>
                </a:lnTo>
                <a:lnTo>
                  <a:pt x="0" y="2527166"/>
                </a:lnTo>
                <a:lnTo>
                  <a:pt x="0" y="0"/>
                </a:lnTo>
                <a:close/>
              </a:path>
            </a:pathLst>
          </a:custGeom>
          <a:blipFill>
            <a:blip r:embed="rId10"/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2024261" y="1472045"/>
            <a:ext cx="14239479" cy="73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  <a:spcBef>
                <a:spcPct val="0"/>
              </a:spcBef>
            </a:pPr>
            <a:r>
              <a:rPr lang="en-US" sz="4341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SEGUIMIENTO Y CONTROL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4972296" y="3320676"/>
            <a:ext cx="8343409" cy="20950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en-US" sz="2987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HERRAMIENTAS UTILIZADAS</a:t>
            </a:r>
          </a:p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en-US" sz="2987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TRELLO / JIRA PARA GESTIÓN DEL BACKLOG</a:t>
            </a:r>
          </a:p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en-US" sz="2987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GITHUB PARA CONTROL DE VERSIONES</a:t>
            </a:r>
          </a:p>
          <a:p>
            <a:pPr algn="ctr">
              <a:lnSpc>
                <a:spcPts val="4182"/>
              </a:lnSpc>
              <a:spcBef>
                <a:spcPct val="0"/>
              </a:spcBef>
            </a:pPr>
            <a:r>
              <a:rPr lang="en-US" sz="2987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DISCORD PARA COMUNICACIÓN DEL EQUIPO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8100000">
            <a:off x="7348496" y="4087678"/>
            <a:ext cx="934083" cy="875703"/>
          </a:xfrm>
          <a:custGeom>
            <a:avLst/>
            <a:gdLst/>
            <a:ahLst/>
            <a:cxnLst/>
            <a:rect r="r" b="b" t="t" l="l"/>
            <a:pathLst>
              <a:path h="875703" w="934083">
                <a:moveTo>
                  <a:pt x="0" y="0"/>
                </a:moveTo>
                <a:lnTo>
                  <a:pt x="934083" y="0"/>
                </a:lnTo>
                <a:lnTo>
                  <a:pt x="934083" y="875703"/>
                </a:lnTo>
                <a:lnTo>
                  <a:pt x="0" y="87570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024261" y="1472045"/>
            <a:ext cx="14239479" cy="737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078"/>
              </a:lnSpc>
              <a:spcBef>
                <a:spcPct val="0"/>
              </a:spcBef>
            </a:pPr>
            <a:r>
              <a:rPr lang="en-US" sz="4341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CONCLUSION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2773703" y="4040180"/>
            <a:ext cx="12740594" cy="18438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EL PROYECTO NM COLL</a:t>
            </a:r>
            <a:r>
              <a:rPr lang="en-US" sz="2081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ECTION AVANZA CONFORME A LA PLANIFICACIÓN INICIAL, PRIORIZANDO LAS FUNCIONALIDADES QUE APORTAN MAYOR VALOR AL USUARIO.</a:t>
            </a:r>
          </a:p>
          <a:p>
            <a:pPr algn="ctr">
              <a:lnSpc>
                <a:spcPts val="2913"/>
              </a:lnSpc>
              <a:spcBef>
                <a:spcPct val="0"/>
              </a:spcBef>
            </a:pPr>
            <a:r>
              <a:rPr lang="en-US" sz="2081">
                <a:solidFill>
                  <a:srgbClr val="007780"/>
                </a:solidFill>
                <a:latin typeface="Paytone One"/>
                <a:ea typeface="Paytone One"/>
                <a:cs typeface="Paytone One"/>
                <a:sym typeface="Paytone One"/>
              </a:rPr>
              <a:t> DURANTE EL SIGUIENTE SPRINT SE ABORDARÁN LAS FUNCIONES COMPLEMENTARIAS COMO EL CHAT DE SUBASTAS, EL CATÁLOGO DE PRODUCTOS Y LA GESTIÓN ADMINISTRATIVA, CON EL FIN DE COMPLETAR LA EXPERIENCIA INTEGRAL DEL SISTEMA.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-5400000">
            <a:off x="-1191053" y="5594049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4" y="0"/>
                </a:lnTo>
                <a:lnTo>
                  <a:pt x="5884004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5400000">
            <a:off x="13595049" y="1191053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4" y="0"/>
                </a:lnTo>
                <a:lnTo>
                  <a:pt x="5884004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2403997" y="6785102"/>
            <a:ext cx="5884003" cy="3501898"/>
          </a:xfrm>
          <a:custGeom>
            <a:avLst/>
            <a:gdLst/>
            <a:ahLst/>
            <a:cxnLst/>
            <a:rect r="r" b="b" t="t" l="l"/>
            <a:pathLst>
              <a:path h="3501898" w="5884003">
                <a:moveTo>
                  <a:pt x="0" y="0"/>
                </a:moveTo>
                <a:lnTo>
                  <a:pt x="5884003" y="0"/>
                </a:lnTo>
                <a:lnTo>
                  <a:pt x="5884003" y="3501898"/>
                </a:lnTo>
                <a:lnTo>
                  <a:pt x="0" y="350189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DAGzjJVdCH4</dc:identifier>
  <dcterms:modified xsi:type="dcterms:W3CDTF">2011-08-01T06:04:30Z</dcterms:modified>
  <cp:revision>1</cp:revision>
  <dc:title>Presentación de proyecto NM Collection Sprint 1 </dc:title>
</cp:coreProperties>
</file>